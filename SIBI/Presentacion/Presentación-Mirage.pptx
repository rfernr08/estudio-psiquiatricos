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Nourd Bold" charset="1" panose="00000800000000000000"/>
      <p:regular r:id="rId15"/>
    </p:embeddedFont>
    <p:embeddedFont>
      <p:font typeface="Space Mono Bold" charset="1" panose="02000809030000020004"/>
      <p:regular r:id="rId16"/>
    </p:embeddedFont>
    <p:embeddedFont>
      <p:font typeface="Space Mono" charset="1" panose="02000509040000020004"/>
      <p:regular r:id="rId17"/>
    </p:embeddedFont>
    <p:embeddedFont>
      <p:font typeface="Nourd" charset="1" panose="00000500000000000000"/>
      <p:regular r:id="rId18"/>
    </p:embeddedFont>
    <p:embeddedFont>
      <p:font typeface="Boulder" charset="1" panose="00000000000000000000"/>
      <p:regular r:id="rId19"/>
    </p:embeddedFont>
    <p:embeddedFont>
      <p:font typeface="Nunito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28.png" Type="http://schemas.openxmlformats.org/officeDocument/2006/relationships/image"/><Relationship Id="rId16" Target="../media/image29.png" Type="http://schemas.openxmlformats.org/officeDocument/2006/relationships/image"/><Relationship Id="rId17" Target="../media/image30.png" Type="http://schemas.openxmlformats.org/officeDocument/2006/relationships/image"/><Relationship Id="rId18" Target="../media/image31.png" Type="http://schemas.openxmlformats.org/officeDocument/2006/relationships/image"/><Relationship Id="rId19" Target="../media/image32.png" Type="http://schemas.openxmlformats.org/officeDocument/2006/relationships/image"/><Relationship Id="rId2" Target="../media/image1.png" Type="http://schemas.openxmlformats.org/officeDocument/2006/relationships/image"/><Relationship Id="rId20" Target="../media/image33.sv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42.png" Type="http://schemas.openxmlformats.org/officeDocument/2006/relationships/image"/><Relationship Id="rId13" Target="../media/image43.svg" Type="http://schemas.openxmlformats.org/officeDocument/2006/relationships/image"/><Relationship Id="rId14" Target="../media/image44.png" Type="http://schemas.openxmlformats.org/officeDocument/2006/relationships/image"/><Relationship Id="rId15" Target="../media/image4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410" y="7960961"/>
            <a:ext cx="18510819" cy="2434668"/>
          </a:xfrm>
          <a:custGeom>
            <a:avLst/>
            <a:gdLst/>
            <a:ahLst/>
            <a:cxnLst/>
            <a:rect r="r" b="b" t="t" l="l"/>
            <a:pathLst>
              <a:path h="2434668" w="18510819">
                <a:moveTo>
                  <a:pt x="0" y="0"/>
                </a:moveTo>
                <a:lnTo>
                  <a:pt x="18510820" y="0"/>
                </a:lnTo>
                <a:lnTo>
                  <a:pt x="18510820" y="2434668"/>
                </a:lnTo>
                <a:lnTo>
                  <a:pt x="0" y="243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3" t="-260" r="0" b="-5897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11410" y="-104309"/>
            <a:ext cx="18510819" cy="2434668"/>
          </a:xfrm>
          <a:custGeom>
            <a:avLst/>
            <a:gdLst/>
            <a:ahLst/>
            <a:cxnLst/>
            <a:rect r="r" b="b" t="t" l="l"/>
            <a:pathLst>
              <a:path h="2434668" w="18510819">
                <a:moveTo>
                  <a:pt x="18510820" y="2434668"/>
                </a:moveTo>
                <a:lnTo>
                  <a:pt x="0" y="2434668"/>
                </a:lnTo>
                <a:lnTo>
                  <a:pt x="0" y="0"/>
                </a:lnTo>
                <a:lnTo>
                  <a:pt x="18510820" y="0"/>
                </a:lnTo>
                <a:lnTo>
                  <a:pt x="18510820" y="243466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3" t="-260" r="0" b="-5897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421101">
            <a:off x="15970800" y="4965879"/>
            <a:ext cx="2073595" cy="3364861"/>
          </a:xfrm>
          <a:custGeom>
            <a:avLst/>
            <a:gdLst/>
            <a:ahLst/>
            <a:cxnLst/>
            <a:rect r="r" b="b" t="t" l="l"/>
            <a:pathLst>
              <a:path h="3364861" w="2073595">
                <a:moveTo>
                  <a:pt x="0" y="0"/>
                </a:moveTo>
                <a:lnTo>
                  <a:pt x="2073595" y="0"/>
                </a:lnTo>
                <a:lnTo>
                  <a:pt x="2073595" y="3364861"/>
                </a:lnTo>
                <a:lnTo>
                  <a:pt x="0" y="3364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228039">
            <a:off x="-108465" y="2135326"/>
            <a:ext cx="1803584" cy="3387012"/>
          </a:xfrm>
          <a:custGeom>
            <a:avLst/>
            <a:gdLst/>
            <a:ahLst/>
            <a:cxnLst/>
            <a:rect r="r" b="b" t="t" l="l"/>
            <a:pathLst>
              <a:path h="3387012" w="1803584">
                <a:moveTo>
                  <a:pt x="0" y="0"/>
                </a:moveTo>
                <a:lnTo>
                  <a:pt x="1803584" y="0"/>
                </a:lnTo>
                <a:lnTo>
                  <a:pt x="1803584" y="3387012"/>
                </a:lnTo>
                <a:lnTo>
                  <a:pt x="0" y="33870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137254">
            <a:off x="651741" y="6457420"/>
            <a:ext cx="1199275" cy="3426501"/>
          </a:xfrm>
          <a:custGeom>
            <a:avLst/>
            <a:gdLst/>
            <a:ahLst/>
            <a:cxnLst/>
            <a:rect r="r" b="b" t="t" l="l"/>
            <a:pathLst>
              <a:path h="3426501" w="1199275">
                <a:moveTo>
                  <a:pt x="0" y="0"/>
                </a:moveTo>
                <a:lnTo>
                  <a:pt x="1199276" y="0"/>
                </a:lnTo>
                <a:lnTo>
                  <a:pt x="1199276" y="3426501"/>
                </a:lnTo>
                <a:lnTo>
                  <a:pt x="0" y="34265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77388">
            <a:off x="15881275" y="756713"/>
            <a:ext cx="2317194" cy="3147293"/>
          </a:xfrm>
          <a:custGeom>
            <a:avLst/>
            <a:gdLst/>
            <a:ahLst/>
            <a:cxnLst/>
            <a:rect r="r" b="b" t="t" l="l"/>
            <a:pathLst>
              <a:path h="3147293" w="2317194">
                <a:moveTo>
                  <a:pt x="0" y="0"/>
                </a:moveTo>
                <a:lnTo>
                  <a:pt x="2317194" y="0"/>
                </a:lnTo>
                <a:lnTo>
                  <a:pt x="2317194" y="3147292"/>
                </a:lnTo>
                <a:lnTo>
                  <a:pt x="0" y="31472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602264" y="3151120"/>
            <a:ext cx="13083473" cy="3732915"/>
            <a:chOff x="0" y="0"/>
            <a:chExt cx="17444631" cy="497722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57150"/>
              <a:ext cx="17444631" cy="38830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16"/>
                </a:lnSpc>
              </a:pPr>
              <a:r>
                <a:rPr lang="en-US" b="true" sz="6800">
                  <a:solidFill>
                    <a:srgbClr val="284269"/>
                  </a:solidFill>
                  <a:latin typeface="Nourd Bold"/>
                  <a:ea typeface="Nourd Bold"/>
                  <a:cs typeface="Nourd Bold"/>
                  <a:sym typeface="Nourd Bold"/>
                </a:rPr>
                <a:t>CHATBOT PREDICTOR DE ESQUIZOFRENIA EN PACIENTES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300945"/>
              <a:ext cx="17444631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28426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Sistemas de la Información de Gestión y BI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602264" y="7478521"/>
            <a:ext cx="13083473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284269"/>
                </a:solidFill>
                <a:latin typeface="Space Mono"/>
                <a:ea typeface="Space Mono"/>
                <a:cs typeface="Space Mono"/>
                <a:sym typeface="Space Mono"/>
              </a:rPr>
              <a:t>Por Raúl Fernández Rodríguez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284269"/>
                </a:solidFill>
                <a:latin typeface="Space Mono"/>
                <a:ea typeface="Space Mono"/>
                <a:cs typeface="Space Mono"/>
                <a:sym typeface="Space Mono"/>
              </a:rPr>
              <a:t>Proyecto Curso 2025-206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172381" y="2199270"/>
            <a:ext cx="609393" cy="575045"/>
          </a:xfrm>
          <a:custGeom>
            <a:avLst/>
            <a:gdLst/>
            <a:ahLst/>
            <a:cxnLst/>
            <a:rect r="r" b="b" t="t" l="l"/>
            <a:pathLst>
              <a:path h="575045" w="609393">
                <a:moveTo>
                  <a:pt x="0" y="0"/>
                </a:moveTo>
                <a:lnTo>
                  <a:pt x="609393" y="0"/>
                </a:lnTo>
                <a:lnTo>
                  <a:pt x="609393" y="575045"/>
                </a:lnTo>
                <a:lnTo>
                  <a:pt x="0" y="5750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016000" y="2358934"/>
            <a:ext cx="1377508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2000" b="true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MIRAGE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410" y="7960961"/>
            <a:ext cx="18510819" cy="2434668"/>
          </a:xfrm>
          <a:custGeom>
            <a:avLst/>
            <a:gdLst/>
            <a:ahLst/>
            <a:cxnLst/>
            <a:rect r="r" b="b" t="t" l="l"/>
            <a:pathLst>
              <a:path h="2434668" w="18510819">
                <a:moveTo>
                  <a:pt x="0" y="0"/>
                </a:moveTo>
                <a:lnTo>
                  <a:pt x="18510820" y="0"/>
                </a:lnTo>
                <a:lnTo>
                  <a:pt x="18510820" y="2434668"/>
                </a:lnTo>
                <a:lnTo>
                  <a:pt x="0" y="243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3" t="-260" r="0" b="-5897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52008" y="1539069"/>
            <a:ext cx="6234985" cy="57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999" b="true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Índice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2352008" y="2465036"/>
          <a:ext cx="6234985" cy="4810125"/>
        </p:xfrm>
        <a:graphic>
          <a:graphicData uri="http://schemas.openxmlformats.org/drawingml/2006/table">
            <a:tbl>
              <a:tblPr/>
              <a:tblGrid>
                <a:gridCol w="956028"/>
                <a:gridCol w="5278957"/>
              </a:tblGrid>
              <a:tr h="687161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800"/>
                        </a:lnSpc>
                        <a:defRPr/>
                      </a:pPr>
                      <a:r>
                        <a:rPr lang="en-US" b="true" sz="2000" spc="202">
                          <a:solidFill>
                            <a:srgbClr val="284269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1</a:t>
                      </a:r>
                      <a:endParaRPr lang="en-US" sz="1100"/>
                    </a:p>
                  </a:txBody>
                  <a:tcPr marL="152400" marR="152400" marT="152400" marB="152400" anchor="t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284269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Introducción</a:t>
                      </a:r>
                      <a:endParaRPr lang="en-US" sz="1100"/>
                    </a:p>
                  </a:txBody>
                  <a:tcPr marL="152400" marR="152400" marT="152400" marB="152400" anchor="t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161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800"/>
                        </a:lnSpc>
                        <a:defRPr/>
                      </a:pPr>
                      <a:r>
                        <a:rPr lang="en-US" b="true" sz="2000" spc="202">
                          <a:solidFill>
                            <a:srgbClr val="284269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2</a:t>
                      </a:r>
                      <a:endParaRPr lang="en-US" sz="1100"/>
                    </a:p>
                  </a:txBody>
                  <a:tcPr marL="152400" marR="152400" marT="152400" marB="152400" anchor="t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284269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Problema y Solucion</a:t>
                      </a:r>
                      <a:endParaRPr lang="en-US" sz="1100"/>
                    </a:p>
                  </a:txBody>
                  <a:tcPr marL="152400" marR="152400" marT="152400" marB="152400" anchor="t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161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800"/>
                        </a:lnSpc>
                        <a:defRPr/>
                      </a:pPr>
                      <a:r>
                        <a:rPr lang="en-US" b="true" sz="2000" spc="202">
                          <a:solidFill>
                            <a:srgbClr val="284269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3</a:t>
                      </a:r>
                      <a:endParaRPr lang="en-US" sz="1100"/>
                    </a:p>
                  </a:txBody>
                  <a:tcPr marL="152400" marR="152400" marT="152400" marB="152400" anchor="t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284269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Tecnologias</a:t>
                      </a:r>
                      <a:endParaRPr lang="en-US" sz="1100"/>
                    </a:p>
                  </a:txBody>
                  <a:tcPr marL="152400" marR="152400" marT="152400" marB="152400" anchor="t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161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800"/>
                        </a:lnSpc>
                        <a:defRPr/>
                      </a:pPr>
                      <a:r>
                        <a:rPr lang="en-US" sz="2000" spc="202">
                          <a:solidFill>
                            <a:srgbClr val="284269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4</a:t>
                      </a:r>
                      <a:endParaRPr lang="en-US" sz="1100"/>
                    </a:p>
                  </a:txBody>
                  <a:tcPr marL="152400" marR="152400" marT="152400" marB="152400" anchor="t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284269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Agentes</a:t>
                      </a:r>
                      <a:endParaRPr lang="en-US" sz="1100"/>
                    </a:p>
                  </a:txBody>
                  <a:tcPr marL="152400" marR="152400" marT="152400" marB="152400" anchor="t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161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800"/>
                        </a:lnSpc>
                        <a:defRPr/>
                      </a:pPr>
                      <a:r>
                        <a:rPr lang="en-US" b="true" sz="2000" spc="202">
                          <a:solidFill>
                            <a:srgbClr val="284269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5</a:t>
                      </a:r>
                      <a:endParaRPr lang="en-US" sz="1100"/>
                    </a:p>
                  </a:txBody>
                  <a:tcPr marL="152400" marR="152400" marT="152400" marB="152400" anchor="t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284269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Flujo del programa</a:t>
                      </a:r>
                      <a:endParaRPr lang="en-US" sz="1100"/>
                    </a:p>
                  </a:txBody>
                  <a:tcPr marL="152400" marR="152400" marT="152400" marB="152400" anchor="t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161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800"/>
                        </a:lnSpc>
                        <a:defRPr/>
                      </a:pPr>
                      <a:r>
                        <a:rPr lang="en-US" b="true" sz="2000" spc="202">
                          <a:solidFill>
                            <a:srgbClr val="284269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6</a:t>
                      </a:r>
                      <a:endParaRPr lang="en-US" sz="1100"/>
                    </a:p>
                  </a:txBody>
                  <a:tcPr marL="152400" marR="152400" marT="152400" marB="152400" anchor="t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284269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Código e implementación</a:t>
                      </a:r>
                      <a:endParaRPr lang="en-US" sz="1100"/>
                    </a:p>
                  </a:txBody>
                  <a:tcPr marL="152400" marR="152400" marT="152400" marB="152400" anchor="t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161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800"/>
                        </a:lnSpc>
                        <a:defRPr/>
                      </a:pPr>
                      <a:r>
                        <a:rPr lang="en-US" b="true" sz="2000" spc="202">
                          <a:solidFill>
                            <a:srgbClr val="284269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7</a:t>
                      </a:r>
                      <a:endParaRPr lang="en-US" sz="1100"/>
                    </a:p>
                  </a:txBody>
                  <a:tcPr marL="152400" marR="152400" marT="152400" marB="152400" anchor="t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284269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Conclusiones</a:t>
                      </a:r>
                      <a:endParaRPr lang="en-US" sz="1100"/>
                    </a:p>
                  </a:txBody>
                  <a:tcPr marL="152400" marR="152400" marT="152400" marB="152400" anchor="t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1305212">
            <a:off x="12533118" y="2282381"/>
            <a:ext cx="3720065" cy="6144252"/>
          </a:xfrm>
          <a:custGeom>
            <a:avLst/>
            <a:gdLst/>
            <a:ahLst/>
            <a:cxnLst/>
            <a:rect r="r" b="b" t="t" l="l"/>
            <a:pathLst>
              <a:path h="6144252" w="3720065">
                <a:moveTo>
                  <a:pt x="0" y="0"/>
                </a:moveTo>
                <a:lnTo>
                  <a:pt x="3720065" y="0"/>
                </a:lnTo>
                <a:lnTo>
                  <a:pt x="3720065" y="6144252"/>
                </a:lnTo>
                <a:lnTo>
                  <a:pt x="0" y="6144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591664">
            <a:off x="10629210" y="1111200"/>
            <a:ext cx="1795583" cy="2965677"/>
          </a:xfrm>
          <a:custGeom>
            <a:avLst/>
            <a:gdLst/>
            <a:ahLst/>
            <a:cxnLst/>
            <a:rect r="r" b="b" t="t" l="l"/>
            <a:pathLst>
              <a:path h="2965677" w="1795583">
                <a:moveTo>
                  <a:pt x="0" y="0"/>
                </a:moveTo>
                <a:lnTo>
                  <a:pt x="1795583" y="0"/>
                </a:lnTo>
                <a:lnTo>
                  <a:pt x="1795583" y="2965678"/>
                </a:lnTo>
                <a:lnTo>
                  <a:pt x="0" y="29656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6573206" y="1274046"/>
            <a:ext cx="16621900" cy="3475488"/>
          </a:xfrm>
          <a:custGeom>
            <a:avLst/>
            <a:gdLst/>
            <a:ahLst/>
            <a:cxnLst/>
            <a:rect r="r" b="b" t="t" l="l"/>
            <a:pathLst>
              <a:path h="3475488" w="16621900">
                <a:moveTo>
                  <a:pt x="0" y="0"/>
                </a:moveTo>
                <a:lnTo>
                  <a:pt x="16621900" y="0"/>
                </a:lnTo>
                <a:lnTo>
                  <a:pt x="16621900" y="3475488"/>
                </a:lnTo>
                <a:lnTo>
                  <a:pt x="0" y="347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3" t="-163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45672" y="801370"/>
            <a:ext cx="11013628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999" b="true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Introducción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291850" y="307926"/>
            <a:ext cx="1441547" cy="144154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5649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840"/>
                </a:lnSpc>
              </a:pPr>
              <a:r>
                <a:rPr lang="en-US" sz="5600">
                  <a:solidFill>
                    <a:srgbClr val="FFFFFF"/>
                  </a:solidFill>
                  <a:latin typeface="Boulder"/>
                  <a:ea typeface="Boulder"/>
                  <a:cs typeface="Boulder"/>
                  <a:sym typeface="Boulder"/>
                </a:rPr>
                <a:t>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291850" y="2635835"/>
            <a:ext cx="1228220" cy="122822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91850" y="4389886"/>
            <a:ext cx="1228220" cy="122822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291850" y="7897988"/>
            <a:ext cx="1228220" cy="122822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291850" y="6097523"/>
            <a:ext cx="1228220" cy="122822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647560" y="3027447"/>
            <a:ext cx="516800" cy="398582"/>
          </a:xfrm>
          <a:custGeom>
            <a:avLst/>
            <a:gdLst/>
            <a:ahLst/>
            <a:cxnLst/>
            <a:rect r="r" b="b" t="t" l="l"/>
            <a:pathLst>
              <a:path h="398582" w="516800">
                <a:moveTo>
                  <a:pt x="0" y="0"/>
                </a:moveTo>
                <a:lnTo>
                  <a:pt x="516800" y="0"/>
                </a:lnTo>
                <a:lnTo>
                  <a:pt x="516800" y="398582"/>
                </a:lnTo>
                <a:lnTo>
                  <a:pt x="0" y="398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647560" y="4781498"/>
            <a:ext cx="516800" cy="398582"/>
          </a:xfrm>
          <a:custGeom>
            <a:avLst/>
            <a:gdLst/>
            <a:ahLst/>
            <a:cxnLst/>
            <a:rect r="r" b="b" t="t" l="l"/>
            <a:pathLst>
              <a:path h="398582" w="516800">
                <a:moveTo>
                  <a:pt x="0" y="0"/>
                </a:moveTo>
                <a:lnTo>
                  <a:pt x="516800" y="0"/>
                </a:lnTo>
                <a:lnTo>
                  <a:pt x="516800" y="398582"/>
                </a:lnTo>
                <a:lnTo>
                  <a:pt x="0" y="398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647560" y="6532506"/>
            <a:ext cx="516800" cy="398582"/>
          </a:xfrm>
          <a:custGeom>
            <a:avLst/>
            <a:gdLst/>
            <a:ahLst/>
            <a:cxnLst/>
            <a:rect r="r" b="b" t="t" l="l"/>
            <a:pathLst>
              <a:path h="398582" w="516800">
                <a:moveTo>
                  <a:pt x="0" y="0"/>
                </a:moveTo>
                <a:lnTo>
                  <a:pt x="516800" y="0"/>
                </a:lnTo>
                <a:lnTo>
                  <a:pt x="516800" y="398583"/>
                </a:lnTo>
                <a:lnTo>
                  <a:pt x="0" y="398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647560" y="8312807"/>
            <a:ext cx="516800" cy="398582"/>
          </a:xfrm>
          <a:custGeom>
            <a:avLst/>
            <a:gdLst/>
            <a:ahLst/>
            <a:cxnLst/>
            <a:rect r="r" b="b" t="t" l="l"/>
            <a:pathLst>
              <a:path h="398582" w="516800">
                <a:moveTo>
                  <a:pt x="0" y="0"/>
                </a:moveTo>
                <a:lnTo>
                  <a:pt x="516800" y="0"/>
                </a:lnTo>
                <a:lnTo>
                  <a:pt x="516800" y="398582"/>
                </a:lnTo>
                <a:lnTo>
                  <a:pt x="0" y="398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886532" y="4850765"/>
            <a:ext cx="7839450" cy="29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  <a:spcBef>
                <a:spcPct val="0"/>
              </a:spcBef>
            </a:pPr>
            <a:r>
              <a:rPr lang="en-US" b="true" sz="2000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Asistir el proceso terapéutico con la IA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86532" y="3108340"/>
            <a:ext cx="7839450" cy="29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  <a:spcBef>
                <a:spcPct val="0"/>
              </a:spcBef>
            </a:pPr>
            <a:r>
              <a:rPr lang="en-US" b="true" sz="2000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Desarrollar un chatbot de predicción de esquizofrenia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86532" y="6542031"/>
            <a:ext cx="7839450" cy="29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  <a:spcBef>
                <a:spcPct val="0"/>
              </a:spcBef>
            </a:pPr>
            <a:r>
              <a:rPr lang="en-US" b="true" sz="2000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Aprovechar los grandes avances del campo de la 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86532" y="8370493"/>
            <a:ext cx="7839450" cy="29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  <a:spcBef>
                <a:spcPct val="0"/>
              </a:spcBef>
            </a:pPr>
            <a:r>
              <a:rPr lang="en-US" b="true" sz="2000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Buscar un nicho que cubrir dentro del campo medico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11410" y="-104309"/>
            <a:ext cx="18510819" cy="2434668"/>
          </a:xfrm>
          <a:custGeom>
            <a:avLst/>
            <a:gdLst/>
            <a:ahLst/>
            <a:cxnLst/>
            <a:rect r="r" b="b" t="t" l="l"/>
            <a:pathLst>
              <a:path h="2434668" w="18510819">
                <a:moveTo>
                  <a:pt x="18510820" y="2434668"/>
                </a:moveTo>
                <a:lnTo>
                  <a:pt x="0" y="2434668"/>
                </a:lnTo>
                <a:lnTo>
                  <a:pt x="0" y="0"/>
                </a:lnTo>
                <a:lnTo>
                  <a:pt x="18510820" y="0"/>
                </a:lnTo>
                <a:lnTo>
                  <a:pt x="18510820" y="243466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3" t="0" r="0" b="-592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7754">
            <a:off x="11296988" y="323355"/>
            <a:ext cx="3729004" cy="5064861"/>
          </a:xfrm>
          <a:custGeom>
            <a:avLst/>
            <a:gdLst/>
            <a:ahLst/>
            <a:cxnLst/>
            <a:rect r="r" b="b" t="t" l="l"/>
            <a:pathLst>
              <a:path h="5064861" w="3729004">
                <a:moveTo>
                  <a:pt x="0" y="0"/>
                </a:moveTo>
                <a:lnTo>
                  <a:pt x="3729004" y="0"/>
                </a:lnTo>
                <a:lnTo>
                  <a:pt x="3729004" y="5064861"/>
                </a:lnTo>
                <a:lnTo>
                  <a:pt x="0" y="5064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239413">
            <a:off x="14342904" y="4513157"/>
            <a:ext cx="2415379" cy="3280651"/>
          </a:xfrm>
          <a:custGeom>
            <a:avLst/>
            <a:gdLst/>
            <a:ahLst/>
            <a:cxnLst/>
            <a:rect r="r" b="b" t="t" l="l"/>
            <a:pathLst>
              <a:path h="3280651" w="2415379">
                <a:moveTo>
                  <a:pt x="2415380" y="0"/>
                </a:moveTo>
                <a:lnTo>
                  <a:pt x="0" y="0"/>
                </a:lnTo>
                <a:lnTo>
                  <a:pt x="0" y="3280651"/>
                </a:lnTo>
                <a:lnTo>
                  <a:pt x="2415380" y="3280651"/>
                </a:lnTo>
                <a:lnTo>
                  <a:pt x="24153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16535">
            <a:off x="12117072" y="6344519"/>
            <a:ext cx="1869086" cy="2538657"/>
          </a:xfrm>
          <a:custGeom>
            <a:avLst/>
            <a:gdLst/>
            <a:ahLst/>
            <a:cxnLst/>
            <a:rect r="r" b="b" t="t" l="l"/>
            <a:pathLst>
              <a:path h="2538657" w="1869086">
                <a:moveTo>
                  <a:pt x="0" y="0"/>
                </a:moveTo>
                <a:lnTo>
                  <a:pt x="1869086" y="0"/>
                </a:lnTo>
                <a:lnTo>
                  <a:pt x="1869086" y="2538657"/>
                </a:lnTo>
                <a:lnTo>
                  <a:pt x="0" y="25386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28259" y="3349229"/>
            <a:ext cx="11013628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999" b="true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Problema + Solución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4438" y="2855785"/>
            <a:ext cx="1441547" cy="144154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5649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840"/>
                </a:lnSpc>
              </a:pPr>
              <a:r>
                <a:rPr lang="en-US" sz="5600">
                  <a:solidFill>
                    <a:srgbClr val="FFFFFF"/>
                  </a:solidFill>
                  <a:latin typeface="Boulder"/>
                  <a:ea typeface="Boulder"/>
                  <a:cs typeface="Boulder"/>
                  <a:sym typeface="Boulder"/>
                </a:rPr>
                <a:t>2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62266" y="4563184"/>
            <a:ext cx="9879547" cy="67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8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Llevar un proceso de seguimiento constante y personalizado para cada paciente en su estudio psiquiátrico.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2266" y="5701993"/>
            <a:ext cx="9879547" cy="67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8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Montar un solución tecnológica que aligere el trabajo de terapeutas y facilite el estudio de pacientes.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2266" y="6840802"/>
            <a:ext cx="9879547" cy="67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8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Proporcionar una plataforma que analize patrones en historiales clinicos, formando un contexto que ayude a la labor del especialista.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2266" y="8057239"/>
            <a:ext cx="9879547" cy="67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8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Una herramienta que apoye al medico en el estudio continuo del paciente, sin reemplazar su función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2266" y="9196048"/>
            <a:ext cx="9879547" cy="67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8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Una aplicación fácil de usar y directa, diseñada para reducir la carga del terapeuta y optimizar el seguimiento clínico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789" y="7873931"/>
            <a:ext cx="18510819" cy="2434668"/>
          </a:xfrm>
          <a:custGeom>
            <a:avLst/>
            <a:gdLst/>
            <a:ahLst/>
            <a:cxnLst/>
            <a:rect r="r" b="b" t="t" l="l"/>
            <a:pathLst>
              <a:path h="2434668" w="18510819">
                <a:moveTo>
                  <a:pt x="0" y="0"/>
                </a:moveTo>
                <a:lnTo>
                  <a:pt x="18510819" y="0"/>
                </a:lnTo>
                <a:lnTo>
                  <a:pt x="18510819" y="2434668"/>
                </a:lnTo>
                <a:lnTo>
                  <a:pt x="0" y="243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3" t="-260" r="0" b="-589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5115" y="158496"/>
            <a:ext cx="1441547" cy="144154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5649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840"/>
                </a:lnSpc>
              </a:pPr>
              <a:r>
                <a:rPr lang="en-US" sz="5600">
                  <a:solidFill>
                    <a:srgbClr val="FFFFFF"/>
                  </a:solidFill>
                  <a:latin typeface="Boulder"/>
                  <a:ea typeface="Boulder"/>
                  <a:cs typeface="Boulder"/>
                  <a:sym typeface="Boulder"/>
                </a:rPr>
                <a:t>3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73196" y="2096786"/>
            <a:ext cx="1304717" cy="1304717"/>
          </a:xfrm>
          <a:custGeom>
            <a:avLst/>
            <a:gdLst/>
            <a:ahLst/>
            <a:cxnLst/>
            <a:rect r="r" b="b" t="t" l="l"/>
            <a:pathLst>
              <a:path h="1304717" w="1304717">
                <a:moveTo>
                  <a:pt x="0" y="0"/>
                </a:moveTo>
                <a:lnTo>
                  <a:pt x="1304718" y="0"/>
                </a:lnTo>
                <a:lnTo>
                  <a:pt x="1304718" y="1304717"/>
                </a:lnTo>
                <a:lnTo>
                  <a:pt x="0" y="1304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04248" y="2096786"/>
            <a:ext cx="1194621" cy="1194621"/>
          </a:xfrm>
          <a:custGeom>
            <a:avLst/>
            <a:gdLst/>
            <a:ahLst/>
            <a:cxnLst/>
            <a:rect r="r" b="b" t="t" l="l"/>
            <a:pathLst>
              <a:path h="1194621" w="1194621">
                <a:moveTo>
                  <a:pt x="0" y="0"/>
                </a:moveTo>
                <a:lnTo>
                  <a:pt x="1194621" y="0"/>
                </a:lnTo>
                <a:lnTo>
                  <a:pt x="1194621" y="1194621"/>
                </a:lnTo>
                <a:lnTo>
                  <a:pt x="0" y="1194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32777" y="2096786"/>
            <a:ext cx="1249669" cy="1249669"/>
          </a:xfrm>
          <a:custGeom>
            <a:avLst/>
            <a:gdLst/>
            <a:ahLst/>
            <a:cxnLst/>
            <a:rect r="r" b="b" t="t" l="l"/>
            <a:pathLst>
              <a:path h="1249669" w="1249669">
                <a:moveTo>
                  <a:pt x="0" y="0"/>
                </a:moveTo>
                <a:lnTo>
                  <a:pt x="1249670" y="0"/>
                </a:lnTo>
                <a:lnTo>
                  <a:pt x="1249670" y="1249669"/>
                </a:lnTo>
                <a:lnTo>
                  <a:pt x="0" y="12496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633919" y="1997467"/>
            <a:ext cx="1503356" cy="1503356"/>
          </a:xfrm>
          <a:custGeom>
            <a:avLst/>
            <a:gdLst/>
            <a:ahLst/>
            <a:cxnLst/>
            <a:rect r="r" b="b" t="t" l="l"/>
            <a:pathLst>
              <a:path h="1503356" w="1503356">
                <a:moveTo>
                  <a:pt x="0" y="0"/>
                </a:moveTo>
                <a:lnTo>
                  <a:pt x="1503356" y="0"/>
                </a:lnTo>
                <a:lnTo>
                  <a:pt x="1503356" y="1503355"/>
                </a:lnTo>
                <a:lnTo>
                  <a:pt x="0" y="15033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590451" y="2096786"/>
            <a:ext cx="1125319" cy="1304717"/>
          </a:xfrm>
          <a:custGeom>
            <a:avLst/>
            <a:gdLst/>
            <a:ahLst/>
            <a:cxnLst/>
            <a:rect r="r" b="b" t="t" l="l"/>
            <a:pathLst>
              <a:path h="1304717" w="1125319">
                <a:moveTo>
                  <a:pt x="0" y="0"/>
                </a:moveTo>
                <a:lnTo>
                  <a:pt x="1125319" y="0"/>
                </a:lnTo>
                <a:lnTo>
                  <a:pt x="1125319" y="1304717"/>
                </a:lnTo>
                <a:lnTo>
                  <a:pt x="0" y="13047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791097" y="2346857"/>
            <a:ext cx="2145533" cy="804575"/>
          </a:xfrm>
          <a:custGeom>
            <a:avLst/>
            <a:gdLst/>
            <a:ahLst/>
            <a:cxnLst/>
            <a:rect r="r" b="b" t="t" l="l"/>
            <a:pathLst>
              <a:path h="804575" w="2145533">
                <a:moveTo>
                  <a:pt x="0" y="0"/>
                </a:moveTo>
                <a:lnTo>
                  <a:pt x="2145533" y="0"/>
                </a:lnTo>
                <a:lnTo>
                  <a:pt x="2145533" y="804575"/>
                </a:lnTo>
                <a:lnTo>
                  <a:pt x="0" y="8045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53806" y="4405336"/>
            <a:ext cx="1834734" cy="1754464"/>
          </a:xfrm>
          <a:custGeom>
            <a:avLst/>
            <a:gdLst/>
            <a:ahLst/>
            <a:cxnLst/>
            <a:rect r="r" b="b" t="t" l="l"/>
            <a:pathLst>
              <a:path h="1754464" w="1834734">
                <a:moveTo>
                  <a:pt x="0" y="0"/>
                </a:moveTo>
                <a:lnTo>
                  <a:pt x="1834734" y="0"/>
                </a:lnTo>
                <a:lnTo>
                  <a:pt x="1834734" y="1754464"/>
                </a:lnTo>
                <a:lnTo>
                  <a:pt x="0" y="1754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405716" y="4521235"/>
            <a:ext cx="1543613" cy="1562908"/>
          </a:xfrm>
          <a:custGeom>
            <a:avLst/>
            <a:gdLst/>
            <a:ahLst/>
            <a:cxnLst/>
            <a:rect r="r" b="b" t="t" l="l"/>
            <a:pathLst>
              <a:path h="1562908" w="1543613">
                <a:moveTo>
                  <a:pt x="0" y="0"/>
                </a:moveTo>
                <a:lnTo>
                  <a:pt x="1543613" y="0"/>
                </a:lnTo>
                <a:lnTo>
                  <a:pt x="1543613" y="1562908"/>
                </a:lnTo>
                <a:lnTo>
                  <a:pt x="0" y="15629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660796" y="4509416"/>
            <a:ext cx="1681735" cy="1607696"/>
          </a:xfrm>
          <a:custGeom>
            <a:avLst/>
            <a:gdLst/>
            <a:ahLst/>
            <a:cxnLst/>
            <a:rect r="r" b="b" t="t" l="l"/>
            <a:pathLst>
              <a:path h="1607696" w="1681735">
                <a:moveTo>
                  <a:pt x="0" y="0"/>
                </a:moveTo>
                <a:lnTo>
                  <a:pt x="1681734" y="0"/>
                </a:lnTo>
                <a:lnTo>
                  <a:pt x="1681734" y="1607697"/>
                </a:lnTo>
                <a:lnTo>
                  <a:pt x="0" y="160769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741912" y="4521235"/>
            <a:ext cx="1452350" cy="1452350"/>
          </a:xfrm>
          <a:custGeom>
            <a:avLst/>
            <a:gdLst/>
            <a:ahLst/>
            <a:cxnLst/>
            <a:rect r="r" b="b" t="t" l="l"/>
            <a:pathLst>
              <a:path h="1452350" w="1452350">
                <a:moveTo>
                  <a:pt x="0" y="0"/>
                </a:moveTo>
                <a:lnTo>
                  <a:pt x="1452350" y="0"/>
                </a:lnTo>
                <a:lnTo>
                  <a:pt x="1452350" y="1452351"/>
                </a:lnTo>
                <a:lnTo>
                  <a:pt x="0" y="145235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544770" y="4109901"/>
            <a:ext cx="1130844" cy="2035519"/>
          </a:xfrm>
          <a:custGeom>
            <a:avLst/>
            <a:gdLst/>
            <a:ahLst/>
            <a:cxnLst/>
            <a:rect r="r" b="b" t="t" l="l"/>
            <a:pathLst>
              <a:path h="2035519" w="1130844">
                <a:moveTo>
                  <a:pt x="0" y="0"/>
                </a:moveTo>
                <a:lnTo>
                  <a:pt x="1130844" y="0"/>
                </a:lnTo>
                <a:lnTo>
                  <a:pt x="1130844" y="2035519"/>
                </a:lnTo>
                <a:lnTo>
                  <a:pt x="0" y="20355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690246" y="4254511"/>
            <a:ext cx="1890909" cy="1890909"/>
          </a:xfrm>
          <a:custGeom>
            <a:avLst/>
            <a:gdLst/>
            <a:ahLst/>
            <a:cxnLst/>
            <a:rect r="r" b="b" t="t" l="l"/>
            <a:pathLst>
              <a:path h="1890909" w="1890909">
                <a:moveTo>
                  <a:pt x="0" y="0"/>
                </a:moveTo>
                <a:lnTo>
                  <a:pt x="1890909" y="0"/>
                </a:lnTo>
                <a:lnTo>
                  <a:pt x="1890909" y="1890909"/>
                </a:lnTo>
                <a:lnTo>
                  <a:pt x="0" y="189090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372995" y="2195300"/>
            <a:ext cx="1269687" cy="1206203"/>
          </a:xfrm>
          <a:custGeom>
            <a:avLst/>
            <a:gdLst/>
            <a:ahLst/>
            <a:cxnLst/>
            <a:rect r="r" b="b" t="t" l="l"/>
            <a:pathLst>
              <a:path h="1206203" w="1269687">
                <a:moveTo>
                  <a:pt x="0" y="0"/>
                </a:moveTo>
                <a:lnTo>
                  <a:pt x="1269687" y="0"/>
                </a:lnTo>
                <a:lnTo>
                  <a:pt x="1269687" y="1206203"/>
                </a:lnTo>
                <a:lnTo>
                  <a:pt x="0" y="120620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832996" y="2408862"/>
            <a:ext cx="3096406" cy="712173"/>
          </a:xfrm>
          <a:custGeom>
            <a:avLst/>
            <a:gdLst/>
            <a:ahLst/>
            <a:cxnLst/>
            <a:rect r="r" b="b" t="t" l="l"/>
            <a:pathLst>
              <a:path h="712173" w="3096406">
                <a:moveTo>
                  <a:pt x="0" y="0"/>
                </a:moveTo>
                <a:lnTo>
                  <a:pt x="3096406" y="0"/>
                </a:lnTo>
                <a:lnTo>
                  <a:pt x="3096406" y="712174"/>
                </a:lnTo>
                <a:lnTo>
                  <a:pt x="0" y="71217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968763" y="4460557"/>
            <a:ext cx="1513028" cy="1513028"/>
          </a:xfrm>
          <a:custGeom>
            <a:avLst/>
            <a:gdLst/>
            <a:ahLst/>
            <a:cxnLst/>
            <a:rect r="r" b="b" t="t" l="l"/>
            <a:pathLst>
              <a:path h="1513028" w="1513028">
                <a:moveTo>
                  <a:pt x="0" y="0"/>
                </a:moveTo>
                <a:lnTo>
                  <a:pt x="1513028" y="0"/>
                </a:lnTo>
                <a:lnTo>
                  <a:pt x="1513028" y="1513029"/>
                </a:lnTo>
                <a:lnTo>
                  <a:pt x="0" y="151302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39691" y="3511108"/>
            <a:ext cx="1371728" cy="59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  <a:spcBef>
                <a:spcPct val="0"/>
              </a:spcBef>
            </a:pPr>
            <a:r>
              <a:rPr lang="en-US" sz="3502" spc="-7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Python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13807" y="3456060"/>
            <a:ext cx="1375503" cy="59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  <a:spcBef>
                <a:spcPct val="0"/>
              </a:spcBef>
            </a:pPr>
            <a:r>
              <a:rPr lang="en-US" sz="3502" spc="-7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GitHub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80137" y="3456060"/>
            <a:ext cx="554951" cy="59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  <a:spcBef>
                <a:spcPct val="0"/>
              </a:spcBef>
            </a:pPr>
            <a:r>
              <a:rPr lang="en-US" sz="3502" spc="-7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Git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33919" y="3456060"/>
            <a:ext cx="1364543" cy="59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  <a:spcBef>
                <a:spcPct val="0"/>
              </a:spcBef>
            </a:pPr>
            <a:r>
              <a:rPr lang="en-US" sz="3502" spc="-7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Cohere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68476" y="3434147"/>
            <a:ext cx="1144730" cy="59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  <a:spcBef>
                <a:spcPct val="0"/>
              </a:spcBef>
            </a:pPr>
            <a:r>
              <a:rPr lang="en-US" sz="3502" spc="-7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Neo4j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17645" y="3511108"/>
            <a:ext cx="1372824" cy="59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  <a:spcBef>
                <a:spcPct val="0"/>
              </a:spcBef>
            </a:pPr>
            <a:r>
              <a:rPr lang="en-US" sz="3502" spc="-7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Jyputer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1267" y="6088270"/>
            <a:ext cx="1579812" cy="66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8"/>
              </a:lnSpc>
              <a:spcBef>
                <a:spcPct val="0"/>
              </a:spcBef>
            </a:pPr>
            <a:r>
              <a:rPr lang="en-US" sz="3898" spc="-7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Pandas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77990" y="6064550"/>
            <a:ext cx="1562867" cy="66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8"/>
              </a:lnSpc>
              <a:spcBef>
                <a:spcPct val="0"/>
              </a:spcBef>
            </a:pPr>
            <a:r>
              <a:rPr lang="en-US" sz="3898" spc="-7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Numpy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526108" y="6052731"/>
            <a:ext cx="1951109" cy="66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8"/>
              </a:lnSpc>
              <a:spcBef>
                <a:spcPct val="0"/>
              </a:spcBef>
            </a:pPr>
            <a:r>
              <a:rPr lang="en-US" sz="3898" spc="-7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Streamlit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53997" y="6052731"/>
            <a:ext cx="2828180" cy="66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8"/>
              </a:lnSpc>
              <a:spcBef>
                <a:spcPct val="0"/>
              </a:spcBef>
            </a:pPr>
            <a:r>
              <a:rPr lang="en-US" sz="3898" spc="-7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HuggingFace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387388" y="6069220"/>
            <a:ext cx="1445608" cy="66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8"/>
              </a:lnSpc>
              <a:spcBef>
                <a:spcPct val="0"/>
              </a:spcBef>
            </a:pPr>
            <a:r>
              <a:rPr lang="en-US" sz="3898" spc="-7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Folium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399441" y="6069220"/>
            <a:ext cx="2403472" cy="66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8"/>
              </a:lnSpc>
              <a:spcBef>
                <a:spcPct val="0"/>
              </a:spcBef>
            </a:pPr>
            <a:r>
              <a:rPr lang="en-US" sz="3898" spc="-7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Scikit-learn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00266" y="3511108"/>
            <a:ext cx="912009" cy="59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  <a:spcBef>
                <a:spcPct val="0"/>
              </a:spcBef>
            </a:pPr>
            <a:r>
              <a:rPr lang="en-US" sz="3502" spc="-7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RAG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776988" y="3511108"/>
            <a:ext cx="1208421" cy="59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  <a:spcBef>
                <a:spcPct val="0"/>
              </a:spcBef>
            </a:pPr>
            <a:r>
              <a:rPr lang="en-US" sz="3502" spc="-7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Polars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47787" y="6088270"/>
            <a:ext cx="2488197" cy="66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8"/>
              </a:lnSpc>
              <a:spcBef>
                <a:spcPct val="0"/>
              </a:spcBef>
            </a:pPr>
            <a:r>
              <a:rPr lang="en-US" sz="3898" spc="-7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LlamaIndex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53981" y="651940"/>
            <a:ext cx="11013628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999" b="true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Tecnologias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410" y="7960961"/>
            <a:ext cx="18510819" cy="2434668"/>
          </a:xfrm>
          <a:custGeom>
            <a:avLst/>
            <a:gdLst/>
            <a:ahLst/>
            <a:cxnLst/>
            <a:rect r="r" b="b" t="t" l="l"/>
            <a:pathLst>
              <a:path h="2434668" w="18510819">
                <a:moveTo>
                  <a:pt x="0" y="0"/>
                </a:moveTo>
                <a:lnTo>
                  <a:pt x="18510820" y="0"/>
                </a:lnTo>
                <a:lnTo>
                  <a:pt x="18510820" y="2434668"/>
                </a:lnTo>
                <a:lnTo>
                  <a:pt x="0" y="243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3" t="-260" r="0" b="-589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28680" y="3459521"/>
            <a:ext cx="2008514" cy="200851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060775" y="3459521"/>
            <a:ext cx="2008514" cy="200851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944879" y="3459521"/>
            <a:ext cx="2008514" cy="200851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175229" y="3883318"/>
            <a:ext cx="715416" cy="1160919"/>
          </a:xfrm>
          <a:custGeom>
            <a:avLst/>
            <a:gdLst/>
            <a:ahLst/>
            <a:cxnLst/>
            <a:rect r="r" b="b" t="t" l="l"/>
            <a:pathLst>
              <a:path h="1160919" w="715416">
                <a:moveTo>
                  <a:pt x="0" y="0"/>
                </a:moveTo>
                <a:lnTo>
                  <a:pt x="715416" y="0"/>
                </a:lnTo>
                <a:lnTo>
                  <a:pt x="715416" y="1160919"/>
                </a:lnTo>
                <a:lnTo>
                  <a:pt x="0" y="1160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588696" y="3816801"/>
            <a:ext cx="952673" cy="1293953"/>
          </a:xfrm>
          <a:custGeom>
            <a:avLst/>
            <a:gdLst/>
            <a:ahLst/>
            <a:cxnLst/>
            <a:rect r="r" b="b" t="t" l="l"/>
            <a:pathLst>
              <a:path h="1293953" w="952673">
                <a:moveTo>
                  <a:pt x="0" y="0"/>
                </a:moveTo>
                <a:lnTo>
                  <a:pt x="952673" y="0"/>
                </a:lnTo>
                <a:lnTo>
                  <a:pt x="952673" y="1293953"/>
                </a:lnTo>
                <a:lnTo>
                  <a:pt x="0" y="12939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550821" y="3884411"/>
            <a:ext cx="796630" cy="1158734"/>
          </a:xfrm>
          <a:custGeom>
            <a:avLst/>
            <a:gdLst/>
            <a:ahLst/>
            <a:cxnLst/>
            <a:rect r="r" b="b" t="t" l="l"/>
            <a:pathLst>
              <a:path h="1158734" w="796630">
                <a:moveTo>
                  <a:pt x="0" y="0"/>
                </a:moveTo>
                <a:lnTo>
                  <a:pt x="796629" y="0"/>
                </a:lnTo>
                <a:lnTo>
                  <a:pt x="796629" y="1158733"/>
                </a:lnTo>
                <a:lnTo>
                  <a:pt x="0" y="115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432134" y="5719792"/>
            <a:ext cx="4201605" cy="893620"/>
            <a:chOff x="0" y="0"/>
            <a:chExt cx="5602141" cy="119149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602141" cy="444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68"/>
                </a:lnSpc>
                <a:spcBef>
                  <a:spcPct val="0"/>
                </a:spcBef>
              </a:pPr>
              <a:r>
                <a:rPr lang="en-US" b="true" sz="2205">
                  <a:solidFill>
                    <a:srgbClr val="284269"/>
                  </a:solidFill>
                  <a:latin typeface="Nourd Bold"/>
                  <a:ea typeface="Nourd Bold"/>
                  <a:cs typeface="Nourd Bold"/>
                  <a:sym typeface="Nourd Bold"/>
                </a:rPr>
                <a:t>Predicción BERT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832763"/>
              <a:ext cx="5602141" cy="358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33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965280" y="5719792"/>
            <a:ext cx="4199505" cy="33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8"/>
              </a:lnSpc>
              <a:spcBef>
                <a:spcPct val="0"/>
              </a:spcBef>
            </a:pPr>
            <a:r>
              <a:rPr lang="en-US" b="true" sz="2205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Evidencia Neo4J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49383" y="5719792"/>
            <a:ext cx="4199505" cy="33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8"/>
              </a:lnSpc>
              <a:spcBef>
                <a:spcPct val="0"/>
              </a:spcBef>
            </a:pPr>
            <a:r>
              <a:rPr lang="en-US" b="true" sz="2205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Respuesta LLM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91868" y="801370"/>
            <a:ext cx="11013628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999" b="true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Agentes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38046" y="307926"/>
            <a:ext cx="1441547" cy="144154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5649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840"/>
                </a:lnSpc>
              </a:pPr>
              <a:r>
                <a:rPr lang="en-US" sz="5600">
                  <a:solidFill>
                    <a:srgbClr val="FFFFFF"/>
                  </a:solidFill>
                  <a:latin typeface="Boulder"/>
                  <a:ea typeface="Boulder"/>
                  <a:cs typeface="Boulder"/>
                  <a:sym typeface="Boulder"/>
                </a:rPr>
                <a:t>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4086" y="3459521"/>
            <a:ext cx="2008514" cy="200851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-111410" y="5719792"/>
            <a:ext cx="4199505" cy="33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8"/>
              </a:lnSpc>
              <a:spcBef>
                <a:spcPct val="0"/>
              </a:spcBef>
            </a:pPr>
            <a:r>
              <a:rPr lang="en-US" b="true" sz="2205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Procesar datos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653677" y="3853794"/>
            <a:ext cx="669331" cy="1256960"/>
          </a:xfrm>
          <a:custGeom>
            <a:avLst/>
            <a:gdLst/>
            <a:ahLst/>
            <a:cxnLst/>
            <a:rect r="r" b="b" t="t" l="l"/>
            <a:pathLst>
              <a:path h="1256960" w="669331">
                <a:moveTo>
                  <a:pt x="0" y="0"/>
                </a:moveTo>
                <a:lnTo>
                  <a:pt x="669331" y="0"/>
                </a:lnTo>
                <a:lnTo>
                  <a:pt x="669331" y="1256960"/>
                </a:lnTo>
                <a:lnTo>
                  <a:pt x="0" y="12569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09924" y="-325830"/>
            <a:ext cx="18510819" cy="2434668"/>
          </a:xfrm>
          <a:custGeom>
            <a:avLst/>
            <a:gdLst/>
            <a:ahLst/>
            <a:cxnLst/>
            <a:rect r="r" b="b" t="t" l="l"/>
            <a:pathLst>
              <a:path h="2434668" w="18510819">
                <a:moveTo>
                  <a:pt x="18510819" y="2434667"/>
                </a:moveTo>
                <a:lnTo>
                  <a:pt x="0" y="2434667"/>
                </a:lnTo>
                <a:lnTo>
                  <a:pt x="0" y="0"/>
                </a:lnTo>
                <a:lnTo>
                  <a:pt x="18510819" y="0"/>
                </a:lnTo>
                <a:lnTo>
                  <a:pt x="18510819" y="24346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518" r="0" b="-5345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72305" y="3023497"/>
            <a:ext cx="11013628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999" b="true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Flujo del programa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8484" y="2530053"/>
            <a:ext cx="1441547" cy="144154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5649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840"/>
                </a:lnSpc>
              </a:pPr>
              <a:r>
                <a:rPr lang="en-US" sz="5600">
                  <a:solidFill>
                    <a:srgbClr val="FFFFFF"/>
                  </a:solidFill>
                  <a:latin typeface="Boulder"/>
                  <a:ea typeface="Boulder"/>
                  <a:cs typeface="Boulder"/>
                  <a:sym typeface="Boulder"/>
                </a:rPr>
                <a:t>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056762" y="7590769"/>
            <a:ext cx="1829171" cy="182917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56762" y="2032711"/>
            <a:ext cx="1829171" cy="182917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915809" y="4420083"/>
            <a:ext cx="1829171" cy="182917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645580" y="7976725"/>
            <a:ext cx="651536" cy="1057259"/>
          </a:xfrm>
          <a:custGeom>
            <a:avLst/>
            <a:gdLst/>
            <a:ahLst/>
            <a:cxnLst/>
            <a:rect r="r" b="b" t="t" l="l"/>
            <a:pathLst>
              <a:path h="1057259" w="651536">
                <a:moveTo>
                  <a:pt x="0" y="0"/>
                </a:moveTo>
                <a:lnTo>
                  <a:pt x="651536" y="0"/>
                </a:lnTo>
                <a:lnTo>
                  <a:pt x="651536" y="1057259"/>
                </a:lnTo>
                <a:lnTo>
                  <a:pt x="0" y="1057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537544" y="2358090"/>
            <a:ext cx="867608" cy="1178414"/>
          </a:xfrm>
          <a:custGeom>
            <a:avLst/>
            <a:gdLst/>
            <a:ahLst/>
            <a:cxnLst/>
            <a:rect r="r" b="b" t="t" l="l"/>
            <a:pathLst>
              <a:path h="1178414" w="867608">
                <a:moveTo>
                  <a:pt x="0" y="0"/>
                </a:moveTo>
                <a:lnTo>
                  <a:pt x="867608" y="0"/>
                </a:lnTo>
                <a:lnTo>
                  <a:pt x="867608" y="1178414"/>
                </a:lnTo>
                <a:lnTo>
                  <a:pt x="0" y="1178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467646" y="4807034"/>
            <a:ext cx="725498" cy="1055269"/>
          </a:xfrm>
          <a:custGeom>
            <a:avLst/>
            <a:gdLst/>
            <a:ahLst/>
            <a:cxnLst/>
            <a:rect r="r" b="b" t="t" l="l"/>
            <a:pathLst>
              <a:path h="1055269" w="725498">
                <a:moveTo>
                  <a:pt x="0" y="0"/>
                </a:moveTo>
                <a:lnTo>
                  <a:pt x="725497" y="0"/>
                </a:lnTo>
                <a:lnTo>
                  <a:pt x="725497" y="1055269"/>
                </a:lnTo>
                <a:lnTo>
                  <a:pt x="0" y="10552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548943" y="4420083"/>
            <a:ext cx="1829171" cy="182917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9158745" y="4751625"/>
            <a:ext cx="609566" cy="1144725"/>
          </a:xfrm>
          <a:custGeom>
            <a:avLst/>
            <a:gdLst/>
            <a:ahLst/>
            <a:cxnLst/>
            <a:rect r="r" b="b" t="t" l="l"/>
            <a:pathLst>
              <a:path h="1144725" w="609566">
                <a:moveTo>
                  <a:pt x="0" y="0"/>
                </a:moveTo>
                <a:lnTo>
                  <a:pt x="609566" y="0"/>
                </a:lnTo>
                <a:lnTo>
                  <a:pt x="609566" y="1144725"/>
                </a:lnTo>
                <a:lnTo>
                  <a:pt x="0" y="11447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868707" y="4420083"/>
            <a:ext cx="1829171" cy="182917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5280585" y="4782243"/>
            <a:ext cx="1005414" cy="1104851"/>
          </a:xfrm>
          <a:custGeom>
            <a:avLst/>
            <a:gdLst/>
            <a:ahLst/>
            <a:cxnLst/>
            <a:rect r="r" b="b" t="t" l="l"/>
            <a:pathLst>
              <a:path h="1104851" w="1005414">
                <a:moveTo>
                  <a:pt x="0" y="0"/>
                </a:moveTo>
                <a:lnTo>
                  <a:pt x="1005414" y="0"/>
                </a:lnTo>
                <a:lnTo>
                  <a:pt x="1005414" y="1104851"/>
                </a:lnTo>
                <a:lnTo>
                  <a:pt x="0" y="11048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993482" y="4420083"/>
            <a:ext cx="1829171" cy="182917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314274" y="4839593"/>
            <a:ext cx="1187586" cy="990150"/>
          </a:xfrm>
          <a:custGeom>
            <a:avLst/>
            <a:gdLst/>
            <a:ahLst/>
            <a:cxnLst/>
            <a:rect r="r" b="b" t="t" l="l"/>
            <a:pathLst>
              <a:path h="990150" w="1187586">
                <a:moveTo>
                  <a:pt x="0" y="0"/>
                </a:moveTo>
                <a:lnTo>
                  <a:pt x="1187586" y="0"/>
                </a:lnTo>
                <a:lnTo>
                  <a:pt x="1187586" y="990150"/>
                </a:lnTo>
                <a:lnTo>
                  <a:pt x="0" y="990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1" id="31"/>
          <p:cNvSpPr/>
          <p:nvPr/>
        </p:nvSpPr>
        <p:spPr>
          <a:xfrm>
            <a:off x="2842832" y="5275137"/>
            <a:ext cx="2025874" cy="59531"/>
          </a:xfrm>
          <a:prstGeom prst="line">
            <a:avLst/>
          </a:prstGeom>
          <a:ln cap="flat" w="142875">
            <a:solidFill>
              <a:srgbClr val="FF9D0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>
            <a:off x="6697878" y="5334668"/>
            <a:ext cx="1851065" cy="0"/>
          </a:xfrm>
          <a:prstGeom prst="line">
            <a:avLst/>
          </a:prstGeom>
          <a:ln cap="flat" w="142875">
            <a:solidFill>
              <a:srgbClr val="FF9D0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>
            <a:off x="10378114" y="5334668"/>
            <a:ext cx="5489390" cy="0"/>
          </a:xfrm>
          <a:prstGeom prst="line">
            <a:avLst/>
          </a:prstGeom>
          <a:ln cap="flat" w="142875">
            <a:solidFill>
              <a:srgbClr val="FF9D0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 flipV="true">
            <a:off x="10203139" y="2947297"/>
            <a:ext cx="1853623" cy="1849264"/>
          </a:xfrm>
          <a:prstGeom prst="line">
            <a:avLst/>
          </a:prstGeom>
          <a:ln cap="flat" w="142875">
            <a:solidFill>
              <a:srgbClr val="FF9D0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>
            <a:off x="10196321" y="5882010"/>
            <a:ext cx="1834248" cy="2587405"/>
          </a:xfrm>
          <a:prstGeom prst="line">
            <a:avLst/>
          </a:prstGeom>
          <a:ln cap="flat" w="142875">
            <a:solidFill>
              <a:srgbClr val="FF9D0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>
            <a:off x="13911378" y="2947297"/>
            <a:ext cx="2411775" cy="1626221"/>
          </a:xfrm>
          <a:prstGeom prst="line">
            <a:avLst/>
          </a:prstGeom>
          <a:ln cap="flat" w="142875">
            <a:solidFill>
              <a:srgbClr val="FF9D0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 flipV="true">
            <a:off x="13942557" y="6113263"/>
            <a:ext cx="2407744" cy="2392091"/>
          </a:xfrm>
          <a:prstGeom prst="line">
            <a:avLst/>
          </a:prstGeom>
          <a:ln cap="flat" w="142875">
            <a:solidFill>
              <a:srgbClr val="FF9D0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8" id="38"/>
          <p:cNvSpPr txBox="true"/>
          <p:nvPr/>
        </p:nvSpPr>
        <p:spPr>
          <a:xfrm rot="0">
            <a:off x="993482" y="6420996"/>
            <a:ext cx="2517077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8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Montar entorno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524754" y="6420996"/>
            <a:ext cx="2517077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8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Introducir datos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04990" y="6420996"/>
            <a:ext cx="2517077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8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Procesar datos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954387" y="4052383"/>
            <a:ext cx="2449726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8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Evidencia Neo4J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887035" y="9610440"/>
            <a:ext cx="2517077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8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Predicción BERT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323153" y="6557013"/>
            <a:ext cx="2517077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8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Respuesta LLM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410" y="7960961"/>
            <a:ext cx="18510819" cy="2434668"/>
          </a:xfrm>
          <a:custGeom>
            <a:avLst/>
            <a:gdLst/>
            <a:ahLst/>
            <a:cxnLst/>
            <a:rect r="r" b="b" t="t" l="l"/>
            <a:pathLst>
              <a:path h="2434668" w="18510819">
                <a:moveTo>
                  <a:pt x="0" y="0"/>
                </a:moveTo>
                <a:lnTo>
                  <a:pt x="18510820" y="0"/>
                </a:lnTo>
                <a:lnTo>
                  <a:pt x="18510820" y="2434668"/>
                </a:lnTo>
                <a:lnTo>
                  <a:pt x="0" y="243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3" t="-260" r="0" b="-5897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27576">
            <a:off x="757750" y="6162601"/>
            <a:ext cx="3515414" cy="3137507"/>
          </a:xfrm>
          <a:custGeom>
            <a:avLst/>
            <a:gdLst/>
            <a:ahLst/>
            <a:cxnLst/>
            <a:rect r="r" b="b" t="t" l="l"/>
            <a:pathLst>
              <a:path h="3137507" w="3515414">
                <a:moveTo>
                  <a:pt x="0" y="0"/>
                </a:moveTo>
                <a:lnTo>
                  <a:pt x="3515415" y="0"/>
                </a:lnTo>
                <a:lnTo>
                  <a:pt x="3515415" y="3137507"/>
                </a:lnTo>
                <a:lnTo>
                  <a:pt x="0" y="31375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91184" y="801370"/>
            <a:ext cx="11013628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999" b="true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Conclusiones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37362" y="307926"/>
            <a:ext cx="1441547" cy="144154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5649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840"/>
                </a:lnSpc>
              </a:pPr>
              <a:r>
                <a:rPr lang="en-US" sz="5600">
                  <a:solidFill>
                    <a:srgbClr val="FFFFFF"/>
                  </a:solidFill>
                  <a:latin typeface="Boulder"/>
                  <a:ea typeface="Boulder"/>
                  <a:cs typeface="Boulder"/>
                  <a:sym typeface="Boulder"/>
                </a:rPr>
                <a:t>7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63488" y="1617814"/>
            <a:ext cx="1146317" cy="11463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563488" y="3254896"/>
            <a:ext cx="1146317" cy="114631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563488" y="6529061"/>
            <a:ext cx="1146317" cy="114631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63488" y="4848660"/>
            <a:ext cx="1146317" cy="114631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9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895478" y="1983311"/>
            <a:ext cx="482338" cy="372003"/>
          </a:xfrm>
          <a:custGeom>
            <a:avLst/>
            <a:gdLst/>
            <a:ahLst/>
            <a:cxnLst/>
            <a:rect r="r" b="b" t="t" l="l"/>
            <a:pathLst>
              <a:path h="372003" w="482338">
                <a:moveTo>
                  <a:pt x="0" y="0"/>
                </a:moveTo>
                <a:lnTo>
                  <a:pt x="482337" y="0"/>
                </a:lnTo>
                <a:lnTo>
                  <a:pt x="482337" y="372003"/>
                </a:lnTo>
                <a:lnTo>
                  <a:pt x="0" y="3720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895478" y="3620393"/>
            <a:ext cx="482338" cy="372003"/>
          </a:xfrm>
          <a:custGeom>
            <a:avLst/>
            <a:gdLst/>
            <a:ahLst/>
            <a:cxnLst/>
            <a:rect r="r" b="b" t="t" l="l"/>
            <a:pathLst>
              <a:path h="372003" w="482338">
                <a:moveTo>
                  <a:pt x="0" y="0"/>
                </a:moveTo>
                <a:lnTo>
                  <a:pt x="482337" y="0"/>
                </a:lnTo>
                <a:lnTo>
                  <a:pt x="482337" y="372003"/>
                </a:lnTo>
                <a:lnTo>
                  <a:pt x="0" y="3720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895478" y="5254636"/>
            <a:ext cx="482338" cy="372003"/>
          </a:xfrm>
          <a:custGeom>
            <a:avLst/>
            <a:gdLst/>
            <a:ahLst/>
            <a:cxnLst/>
            <a:rect r="r" b="b" t="t" l="l"/>
            <a:pathLst>
              <a:path h="372003" w="482338">
                <a:moveTo>
                  <a:pt x="0" y="0"/>
                </a:moveTo>
                <a:lnTo>
                  <a:pt x="482337" y="0"/>
                </a:lnTo>
                <a:lnTo>
                  <a:pt x="482337" y="372003"/>
                </a:lnTo>
                <a:lnTo>
                  <a:pt x="0" y="3720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895478" y="6916218"/>
            <a:ext cx="482338" cy="372003"/>
          </a:xfrm>
          <a:custGeom>
            <a:avLst/>
            <a:gdLst/>
            <a:ahLst/>
            <a:cxnLst/>
            <a:rect r="r" b="b" t="t" l="l"/>
            <a:pathLst>
              <a:path h="372003" w="482338">
                <a:moveTo>
                  <a:pt x="0" y="0"/>
                </a:moveTo>
                <a:lnTo>
                  <a:pt x="482337" y="0"/>
                </a:lnTo>
                <a:lnTo>
                  <a:pt x="482337" y="372003"/>
                </a:lnTo>
                <a:lnTo>
                  <a:pt x="0" y="3720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048497" y="2028260"/>
            <a:ext cx="6667370" cy="28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8"/>
              </a:lnSpc>
              <a:spcBef>
                <a:spcPct val="0"/>
              </a:spcBef>
            </a:pPr>
            <a:r>
              <a:rPr lang="en-US" b="true" sz="1866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Herramientas digitales para facilitar trabajo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48497" y="3544765"/>
            <a:ext cx="6667370" cy="566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8"/>
              </a:lnSpc>
              <a:spcBef>
                <a:spcPct val="0"/>
              </a:spcBef>
            </a:pPr>
            <a:r>
              <a:rPr lang="en-US" b="true" sz="1866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Aplicación de la inteligencia artificial en el ámbito clínico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48497" y="5254636"/>
            <a:ext cx="6667370" cy="28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8"/>
              </a:lnSpc>
              <a:spcBef>
                <a:spcPct val="0"/>
              </a:spcBef>
            </a:pPr>
            <a:r>
              <a:rPr lang="en-US" b="true" sz="1866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Mucho hueco para mejora y crecimiento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043180" y="6679740"/>
            <a:ext cx="6263347" cy="851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8"/>
              </a:lnSpc>
              <a:spcBef>
                <a:spcPct val="0"/>
              </a:spcBef>
            </a:pPr>
            <a:r>
              <a:rPr lang="en-US" b="true" sz="1866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potencial de la inteligencia artificial como herramienta de apoyo en la atención psicológica y psiquiátrica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410" y="7960961"/>
            <a:ext cx="18510819" cy="2434668"/>
          </a:xfrm>
          <a:custGeom>
            <a:avLst/>
            <a:gdLst/>
            <a:ahLst/>
            <a:cxnLst/>
            <a:rect r="r" b="b" t="t" l="l"/>
            <a:pathLst>
              <a:path h="2434668" w="18510819">
                <a:moveTo>
                  <a:pt x="0" y="0"/>
                </a:moveTo>
                <a:lnTo>
                  <a:pt x="18510820" y="0"/>
                </a:lnTo>
                <a:lnTo>
                  <a:pt x="18510820" y="2434668"/>
                </a:lnTo>
                <a:lnTo>
                  <a:pt x="0" y="243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3" t="-260" r="0" b="-5897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02264" y="5175124"/>
            <a:ext cx="13083473" cy="1322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4"/>
              </a:lnSpc>
            </a:pPr>
            <a:r>
              <a:rPr lang="en-US" b="true" sz="9200">
                <a:solidFill>
                  <a:srgbClr val="284269"/>
                </a:solidFill>
                <a:latin typeface="Nourd Bold"/>
                <a:ea typeface="Nourd Bold"/>
                <a:cs typeface="Nourd Bold"/>
                <a:sym typeface="Nourd Bold"/>
              </a:rPr>
              <a:t>MUCHAS GRACIAS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-111410" y="-104309"/>
            <a:ext cx="18510819" cy="2434668"/>
          </a:xfrm>
          <a:custGeom>
            <a:avLst/>
            <a:gdLst/>
            <a:ahLst/>
            <a:cxnLst/>
            <a:rect r="r" b="b" t="t" l="l"/>
            <a:pathLst>
              <a:path h="2434668" w="18510819">
                <a:moveTo>
                  <a:pt x="18510820" y="2434668"/>
                </a:moveTo>
                <a:lnTo>
                  <a:pt x="0" y="2434668"/>
                </a:lnTo>
                <a:lnTo>
                  <a:pt x="0" y="0"/>
                </a:lnTo>
                <a:lnTo>
                  <a:pt x="18510820" y="0"/>
                </a:lnTo>
                <a:lnTo>
                  <a:pt x="18510820" y="243466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3" t="-260" r="0" b="-5897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21101">
            <a:off x="15970800" y="4965879"/>
            <a:ext cx="2073595" cy="3364861"/>
          </a:xfrm>
          <a:custGeom>
            <a:avLst/>
            <a:gdLst/>
            <a:ahLst/>
            <a:cxnLst/>
            <a:rect r="r" b="b" t="t" l="l"/>
            <a:pathLst>
              <a:path h="3364861" w="2073595">
                <a:moveTo>
                  <a:pt x="0" y="0"/>
                </a:moveTo>
                <a:lnTo>
                  <a:pt x="2073595" y="0"/>
                </a:lnTo>
                <a:lnTo>
                  <a:pt x="2073595" y="3364861"/>
                </a:lnTo>
                <a:lnTo>
                  <a:pt x="0" y="3364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28039">
            <a:off x="-108465" y="2135326"/>
            <a:ext cx="1803584" cy="3387012"/>
          </a:xfrm>
          <a:custGeom>
            <a:avLst/>
            <a:gdLst/>
            <a:ahLst/>
            <a:cxnLst/>
            <a:rect r="r" b="b" t="t" l="l"/>
            <a:pathLst>
              <a:path h="3387012" w="1803584">
                <a:moveTo>
                  <a:pt x="0" y="0"/>
                </a:moveTo>
                <a:lnTo>
                  <a:pt x="1803584" y="0"/>
                </a:lnTo>
                <a:lnTo>
                  <a:pt x="1803584" y="3387012"/>
                </a:lnTo>
                <a:lnTo>
                  <a:pt x="0" y="33870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137254">
            <a:off x="651741" y="6457420"/>
            <a:ext cx="1199275" cy="3426501"/>
          </a:xfrm>
          <a:custGeom>
            <a:avLst/>
            <a:gdLst/>
            <a:ahLst/>
            <a:cxnLst/>
            <a:rect r="r" b="b" t="t" l="l"/>
            <a:pathLst>
              <a:path h="3426501" w="1199275">
                <a:moveTo>
                  <a:pt x="0" y="0"/>
                </a:moveTo>
                <a:lnTo>
                  <a:pt x="1199276" y="0"/>
                </a:lnTo>
                <a:lnTo>
                  <a:pt x="1199276" y="3426501"/>
                </a:lnTo>
                <a:lnTo>
                  <a:pt x="0" y="34265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477388">
            <a:off x="15881275" y="756713"/>
            <a:ext cx="2317194" cy="3147293"/>
          </a:xfrm>
          <a:custGeom>
            <a:avLst/>
            <a:gdLst/>
            <a:ahLst/>
            <a:cxnLst/>
            <a:rect r="r" b="b" t="t" l="l"/>
            <a:pathLst>
              <a:path h="3147293" w="2317194">
                <a:moveTo>
                  <a:pt x="0" y="0"/>
                </a:moveTo>
                <a:lnTo>
                  <a:pt x="2317194" y="0"/>
                </a:lnTo>
                <a:lnTo>
                  <a:pt x="2317194" y="3147292"/>
                </a:lnTo>
                <a:lnTo>
                  <a:pt x="0" y="31472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DAG9qTRGXVA</dc:identifier>
  <dcterms:modified xsi:type="dcterms:W3CDTF">2011-08-01T06:04:30Z</dcterms:modified>
  <cp:revision>1</cp:revision>
  <dc:title>Por Sandra Haro Lunes, 2 de mayo de 2023</dc:title>
</cp:coreProperties>
</file>